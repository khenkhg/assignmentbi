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7665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page: student, professor, module, institution and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Yalidine Express and its core activities.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is involved, along which dimensions we analyse, and what management needs to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KPIs covering the financial, operational, customer experience and loyalty perspectives.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6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ecor circle 1"/>
          <p:cNvSpPr/>
          <p:nvPr/>
        </p:nvSpPr>
        <p:spPr>
          <a:xfrm>
            <a:off x="8781011" y="-1564640"/>
            <a:ext cx="5669280" cy="5669280"/>
          </a:xfrm>
          <a:prstGeom prst="ellipse">
            <a:avLst/>
          </a:prstGeom>
          <a:solidFill>
            <a:srgbClr val="2A3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Decor circle 2"/>
          <p:cNvSpPr/>
          <p:nvPr/>
        </p:nvSpPr>
        <p:spPr>
          <a:xfrm>
            <a:off x="9692640" y="4023360"/>
            <a:ext cx="4023360" cy="402336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Logo card"/>
          <p:cNvSpPr/>
          <p:nvPr/>
        </p:nvSpPr>
        <p:spPr>
          <a:xfrm>
            <a:off x="731520" y="548640"/>
            <a:ext cx="60350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ESTIN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699" y="857250"/>
            <a:ext cx="2286000" cy="571500"/>
          </a:xfrm>
          <a:prstGeom prst="rect">
            <a:avLst/>
          </a:prstGeom>
        </p:spPr>
      </p:pic>
      <p:cxnSp>
        <p:nvCxnSpPr>
          <p:cNvPr id="4" name="Logo divider"/>
          <p:cNvCxnSpPr/>
          <p:nvPr/>
        </p:nvCxnSpPr>
        <p:spPr>
          <a:xfrm>
            <a:off x="3634740" y="777240"/>
            <a:ext cx="0" cy="731520"/>
          </a:xfrm>
          <a:prstGeom prst="line">
            <a:avLst/>
          </a:prstGeom>
          <a:ln w="12700">
            <a:solidFill>
              <a:srgbClr val="D9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Yalidine 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4780" y="753237"/>
            <a:ext cx="2514600" cy="7795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19456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000" b="1">
                <a:solidFill>
                  <a:srgbClr val="D7263D"/>
                </a:solidFill>
                <a:latin typeface="Calibri"/>
              </a:rPr>
              <a:t>TP1 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Cambria"/>
              </a:rPr>
              <a:t>Yalidine Express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>
                <a:solidFill>
                  <a:srgbClr val="B8BECC"/>
                </a:solidFill>
                <a:latin typeface="Cambria"/>
              </a:rPr>
              <a:t>Business Analysis &amp;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0">
                <a:solidFill>
                  <a:srgbClr val="B8BECC"/>
                </a:solidFill>
                <a:latin typeface="Calibri"/>
              </a:rPr>
              <a:t>Student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4576906"/>
            <a:ext cx="45720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 dirty="0" err="1">
                <a:solidFill>
                  <a:srgbClr val="FFFFFF"/>
                </a:solidFill>
                <a:latin typeface="Calibri"/>
              </a:rPr>
              <a:t>Goudjil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1" dirty="0" smtClean="0">
                <a:solidFill>
                  <a:srgbClr val="FFFFFF"/>
                </a:solidFill>
                <a:latin typeface="Calibri"/>
              </a:rPr>
              <a:t>Khenssa</a:t>
            </a:r>
            <a:r>
              <a:rPr lang="fr-FR" sz="1600" b="1" dirty="0" smtClean="0">
                <a:solidFill>
                  <a:srgbClr val="FFFFFF"/>
                </a:solidFill>
                <a:latin typeface="Calibri"/>
              </a:rPr>
              <a:t>, Saad </a:t>
            </a:r>
            <a:r>
              <a:rPr lang="fr-FR" sz="1600" b="1" dirty="0" err="1" smtClean="0">
                <a:solidFill>
                  <a:srgbClr val="FFFFFF"/>
                </a:solidFill>
                <a:latin typeface="Calibri"/>
              </a:rPr>
              <a:t>Mountaha</a:t>
            </a:r>
            <a:endParaRPr lang="fr-FR" sz="1600" b="1" dirty="0" smtClean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4892040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0">
                <a:solidFill>
                  <a:srgbClr val="B8BECC"/>
                </a:solidFill>
                <a:latin typeface="Calibri"/>
              </a:rPr>
              <a:t>Professor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4892040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Dr. Hadjout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57800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0">
                <a:solidFill>
                  <a:srgbClr val="B8BECC"/>
                </a:solidFill>
                <a:latin typeface="Calibri"/>
              </a:rPr>
              <a:t>Module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5257800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Business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23560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0">
                <a:solidFill>
                  <a:srgbClr val="B8BECC"/>
                </a:solidFill>
                <a:latin typeface="Calibri"/>
              </a:rPr>
              <a:t>Institution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5623560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ESTIN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89320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0">
                <a:solidFill>
                  <a:srgbClr val="B8BECC"/>
                </a:solidFill>
                <a:latin typeface="Calibri"/>
              </a:rPr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6039945"/>
            <a:ext cx="45720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fr-FR" sz="1600" b="1" dirty="0">
                <a:solidFill>
                  <a:srgbClr val="FFFFFF"/>
                </a:solidFill>
                <a:latin typeface="Calibri"/>
              </a:rPr>
              <a:t>4</a:t>
            </a:r>
            <a:r>
              <a:rPr sz="1600" b="1" dirty="0" smtClean="0">
                <a:solidFill>
                  <a:srgbClr val="FFFFFF"/>
                </a:solidFill>
                <a:latin typeface="Calibri"/>
              </a:rPr>
              <a:t>/</a:t>
            </a:r>
            <a:r>
              <a:rPr lang="fr-FR" sz="1600" b="1" dirty="0" smtClean="0">
                <a:solidFill>
                  <a:srgbClr val="FFFFFF"/>
                </a:solidFill>
                <a:latin typeface="Calibri"/>
              </a:rPr>
              <a:t>10</a:t>
            </a:r>
            <a:r>
              <a:rPr sz="1600" b="1" dirty="0" smtClean="0">
                <a:solidFill>
                  <a:srgbClr val="FFFFFF"/>
                </a:solidFill>
                <a:latin typeface="Calibri"/>
              </a:rPr>
              <a:t>/2026</a:t>
            </a:r>
            <a:endParaRPr sz="1600" b="1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Yalidine Express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Overview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Core Business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8404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B8B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Yalidine Express is an Algerian company specialized in express logistics and parcel delivery.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685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B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activities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188720"/>
            <a:ext cx="5120640" cy="1097280"/>
          </a:xfrm>
          <a:prstGeom prst="roundRect">
            <a:avLst>
              <a:gd name="adj" fmla="val 10000"/>
            </a:avLst>
          </a:prstGeom>
          <a:solidFill>
            <a:srgbClr val="2A3040"/>
          </a:solidFill>
          <a:ln w="12700">
            <a:solidFill>
              <a:srgbClr val="2A30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675120" y="1371600"/>
            <a:ext cx="731520" cy="73152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55448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680960" y="118872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&amp; delivery of parcels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400800" y="2560320"/>
            <a:ext cx="5120640" cy="1097280"/>
          </a:xfrm>
          <a:prstGeom prst="roundRect">
            <a:avLst>
              <a:gd name="adj" fmla="val 10000"/>
            </a:avLst>
          </a:prstGeom>
          <a:solidFill>
            <a:srgbClr val="2A3040"/>
          </a:solidFill>
          <a:ln w="12700">
            <a:solidFill>
              <a:srgbClr val="2A30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6675120" y="2743200"/>
            <a:ext cx="731520" cy="73152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9260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680960" y="256032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deliveries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6400800" y="3931920"/>
            <a:ext cx="5120640" cy="1097280"/>
          </a:xfrm>
          <a:prstGeom prst="roundRect">
            <a:avLst>
              <a:gd name="adj" fmla="val 10000"/>
            </a:avLst>
          </a:prstGeom>
          <a:solidFill>
            <a:srgbClr val="2A3040"/>
          </a:solidFill>
          <a:ln w="12700">
            <a:solidFill>
              <a:srgbClr val="2A30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6675120" y="4114800"/>
            <a:ext cx="731520" cy="73152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42976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680960" y="393192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Cash-on-delivery (COD) services</a:t>
            </a:r>
            <a:endParaRPr lang="en-US" sz="1900" dirty="0"/>
          </a:p>
        </p:txBody>
      </p:sp>
      <p:sp>
        <p:nvSpPr>
          <p:cNvPr id="19" name="Shape 14"/>
          <p:cNvSpPr/>
          <p:nvPr/>
        </p:nvSpPr>
        <p:spPr>
          <a:xfrm>
            <a:off x="6400800" y="5303520"/>
            <a:ext cx="5120640" cy="1097280"/>
          </a:xfrm>
          <a:prstGeom prst="roundRect">
            <a:avLst>
              <a:gd name="adj" fmla="val 10000"/>
            </a:avLst>
          </a:prstGeom>
          <a:solidFill>
            <a:srgbClr val="2A3040"/>
          </a:solidFill>
          <a:ln w="12700">
            <a:solidFill>
              <a:srgbClr val="2A30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6675120" y="5486400"/>
            <a:ext cx="731520" cy="73152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566928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680960" y="530352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express delivery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Stakeholders &amp; Decision-Making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658368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914400" y="14173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Main stakeholders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08483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965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customers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23360" y="1965960"/>
            <a:ext cx="457200" cy="457200"/>
          </a:xfrm>
          <a:prstGeom prst="ellipse">
            <a:avLst/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2232" y="208483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17720" y="1965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businesses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914400" y="2606040"/>
            <a:ext cx="457200" cy="457200"/>
          </a:xfrm>
          <a:prstGeom prst="ellipse">
            <a:avLst/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272491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2606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agents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4023360" y="2606040"/>
            <a:ext cx="457200" cy="457200"/>
          </a:xfrm>
          <a:prstGeom prst="ellipse">
            <a:avLst/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2232" y="2724912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617720" y="2606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staff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914400" y="3246120"/>
            <a:ext cx="457200" cy="457200"/>
          </a:xfrm>
          <a:prstGeom prst="ellipse">
            <a:avLst/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272" y="3364992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508760" y="3246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4023360" y="3246120"/>
            <a:ext cx="457200" cy="457200"/>
          </a:xfrm>
          <a:prstGeom prst="ellipse">
            <a:avLst/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2232" y="3364992"/>
            <a:ext cx="219456" cy="219456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4617720" y="3246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partners</a:t>
            </a:r>
            <a:endParaRPr lang="en-US" sz="1600" dirty="0"/>
          </a:p>
        </p:txBody>
      </p:sp>
      <p:sp>
        <p:nvSpPr>
          <p:cNvPr id="23" name="Shape 15"/>
          <p:cNvSpPr/>
          <p:nvPr/>
        </p:nvSpPr>
        <p:spPr>
          <a:xfrm>
            <a:off x="640080" y="4251960"/>
            <a:ext cx="65836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6"/>
          <p:cNvSpPr txBox="1"/>
          <p:nvPr/>
        </p:nvSpPr>
        <p:spPr>
          <a:xfrm>
            <a:off x="914400" y="43891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dimensions</a:t>
            </a:r>
            <a:endParaRPr lang="en-US" sz="2000" dirty="0"/>
          </a:p>
        </p:txBody>
      </p:sp>
      <p:sp>
        <p:nvSpPr>
          <p:cNvPr id="25" name="Shape 17"/>
          <p:cNvSpPr/>
          <p:nvPr/>
        </p:nvSpPr>
        <p:spPr>
          <a:xfrm>
            <a:off x="914400" y="493776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BE6E9"/>
          </a:solidFill>
          <a:ln w="12700">
            <a:solidFill>
              <a:srgbClr val="FBE6E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8992" y="5065776"/>
            <a:ext cx="201168" cy="201168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1371600" y="4937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/ Wilaya</a:t>
            </a:r>
            <a:endParaRPr lang="en-US" sz="1400" dirty="0"/>
          </a:p>
        </p:txBody>
      </p:sp>
      <p:sp>
        <p:nvSpPr>
          <p:cNvPr id="28" name="Shape 19"/>
          <p:cNvSpPr/>
          <p:nvPr/>
        </p:nvSpPr>
        <p:spPr>
          <a:xfrm>
            <a:off x="3017520" y="493776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FBE6E9"/>
          </a:solidFill>
          <a:ln w="12700">
            <a:solidFill>
              <a:srgbClr val="FBE6E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82112" y="5065776"/>
            <a:ext cx="201168" cy="201168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3474720" y="49377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400" dirty="0"/>
          </a:p>
        </p:txBody>
      </p:sp>
      <p:sp>
        <p:nvSpPr>
          <p:cNvPr id="31" name="Shape 21"/>
          <p:cNvSpPr/>
          <p:nvPr/>
        </p:nvSpPr>
        <p:spPr>
          <a:xfrm>
            <a:off x="4389120" y="49377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FBE6E9"/>
          </a:solidFill>
          <a:ln w="12700">
            <a:solidFill>
              <a:srgbClr val="FBE6E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53712" y="5065776"/>
            <a:ext cx="201168" cy="201168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4846320" y="49377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400" dirty="0"/>
          </a:p>
        </p:txBody>
      </p:sp>
      <p:sp>
        <p:nvSpPr>
          <p:cNvPr id="34" name="Shape 23"/>
          <p:cNvSpPr/>
          <p:nvPr/>
        </p:nvSpPr>
        <p:spPr>
          <a:xfrm>
            <a:off x="914400" y="55778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BE6E9"/>
          </a:solidFill>
          <a:ln w="12700">
            <a:solidFill>
              <a:srgbClr val="FBE6E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8992" y="5705856"/>
            <a:ext cx="201168" cy="201168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1371600" y="55778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type</a:t>
            </a:r>
            <a:endParaRPr lang="en-US" sz="1400" dirty="0"/>
          </a:p>
        </p:txBody>
      </p:sp>
      <p:sp>
        <p:nvSpPr>
          <p:cNvPr id="37" name="Shape 25"/>
          <p:cNvSpPr/>
          <p:nvPr/>
        </p:nvSpPr>
        <p:spPr>
          <a:xfrm>
            <a:off x="2834640" y="557784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BE6E9"/>
          </a:solidFill>
          <a:ln w="12700">
            <a:solidFill>
              <a:srgbClr val="FBE6E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99232" y="5705856"/>
            <a:ext cx="201168" cy="201168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3291840" y="55778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activity</a:t>
            </a:r>
            <a:endParaRPr lang="en-US" sz="1400" dirty="0"/>
          </a:p>
        </p:txBody>
      </p:sp>
      <p:sp>
        <p:nvSpPr>
          <p:cNvPr id="40" name="Shape 27"/>
          <p:cNvSpPr/>
          <p:nvPr/>
        </p:nvSpPr>
        <p:spPr>
          <a:xfrm>
            <a:off x="7498080" y="1280160"/>
            <a:ext cx="4050792" cy="5029200"/>
          </a:xfrm>
          <a:prstGeom prst="roundRect">
            <a:avLst>
              <a:gd name="adj" fmla="val 2709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28"/>
          <p:cNvSpPr txBox="1"/>
          <p:nvPr/>
        </p:nvSpPr>
        <p:spPr>
          <a:xfrm>
            <a:off x="7772400" y="141732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Management decision-making needs data that includes:</a:t>
            </a:r>
            <a:endParaRPr lang="en-US" sz="2000" dirty="0"/>
          </a:p>
        </p:txBody>
      </p:sp>
      <p:sp>
        <p:nvSpPr>
          <p:cNvPr id="42" name="Shape 29"/>
          <p:cNvSpPr/>
          <p:nvPr/>
        </p:nvSpPr>
        <p:spPr>
          <a:xfrm>
            <a:off x="7772400" y="2404872"/>
            <a:ext cx="402336" cy="402336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0"/>
          <p:cNvSpPr txBox="1"/>
          <p:nvPr/>
        </p:nvSpPr>
        <p:spPr>
          <a:xfrm>
            <a:off x="7772400" y="2404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4" name="Text 31"/>
          <p:cNvSpPr txBox="1"/>
          <p:nvPr/>
        </p:nvSpPr>
        <p:spPr>
          <a:xfrm>
            <a:off x="8321040" y="23317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volume and revenue</a:t>
            </a:r>
            <a:endParaRPr lang="en-US" sz="1400" dirty="0"/>
          </a:p>
        </p:txBody>
      </p:sp>
      <p:sp>
        <p:nvSpPr>
          <p:cNvPr id="45" name="Shape 32"/>
          <p:cNvSpPr/>
          <p:nvPr/>
        </p:nvSpPr>
        <p:spPr>
          <a:xfrm>
            <a:off x="7772400" y="3182112"/>
            <a:ext cx="402336" cy="402336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33"/>
          <p:cNvSpPr txBox="1"/>
          <p:nvPr/>
        </p:nvSpPr>
        <p:spPr>
          <a:xfrm>
            <a:off x="7772400" y="3182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7" name="Text 34"/>
          <p:cNvSpPr txBox="1"/>
          <p:nvPr/>
        </p:nvSpPr>
        <p:spPr>
          <a:xfrm>
            <a:off x="8321040" y="31089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of customer satisfaction and loyalty</a:t>
            </a:r>
            <a:endParaRPr lang="en-US" sz="1400" dirty="0"/>
          </a:p>
        </p:txBody>
      </p:sp>
      <p:sp>
        <p:nvSpPr>
          <p:cNvPr id="48" name="Shape 35"/>
          <p:cNvSpPr/>
          <p:nvPr/>
        </p:nvSpPr>
        <p:spPr>
          <a:xfrm>
            <a:off x="7772400" y="3959352"/>
            <a:ext cx="402336" cy="402336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6"/>
          <p:cNvSpPr txBox="1"/>
          <p:nvPr/>
        </p:nvSpPr>
        <p:spPr>
          <a:xfrm>
            <a:off x="7772400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0" name="Text 37"/>
          <p:cNvSpPr txBox="1"/>
          <p:nvPr/>
        </p:nvSpPr>
        <p:spPr>
          <a:xfrm>
            <a:off x="8321040" y="38862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 and low-performing regions</a:t>
            </a:r>
            <a:endParaRPr lang="en-US" sz="1400" dirty="0"/>
          </a:p>
        </p:txBody>
      </p:sp>
      <p:sp>
        <p:nvSpPr>
          <p:cNvPr id="51" name="Shape 38"/>
          <p:cNvSpPr/>
          <p:nvPr/>
        </p:nvSpPr>
        <p:spPr>
          <a:xfrm>
            <a:off x="7772400" y="4736592"/>
            <a:ext cx="402336" cy="402336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39"/>
          <p:cNvSpPr txBox="1"/>
          <p:nvPr/>
        </p:nvSpPr>
        <p:spPr>
          <a:xfrm>
            <a:off x="7772400" y="4736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3" name="Text 40"/>
          <p:cNvSpPr txBox="1"/>
          <p:nvPr/>
        </p:nvSpPr>
        <p:spPr>
          <a:xfrm>
            <a:off x="8321040" y="46634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services generate the most activity</a:t>
            </a:r>
            <a:endParaRPr lang="en-US" sz="1400" dirty="0"/>
          </a:p>
        </p:txBody>
      </p:sp>
      <p:sp>
        <p:nvSpPr>
          <p:cNvPr id="54" name="Shape 41"/>
          <p:cNvSpPr/>
          <p:nvPr/>
        </p:nvSpPr>
        <p:spPr>
          <a:xfrm>
            <a:off x="7772400" y="5513832"/>
            <a:ext cx="402336" cy="402336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42"/>
          <p:cNvSpPr txBox="1"/>
          <p:nvPr/>
        </p:nvSpPr>
        <p:spPr>
          <a:xfrm>
            <a:off x="7772400" y="5513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56" name="Text 43"/>
          <p:cNvSpPr txBox="1"/>
          <p:nvPr/>
        </p:nvSpPr>
        <p:spPr>
          <a:xfrm>
            <a:off x="8321040" y="54406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in performance over time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Performance Indicators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Proposed KPIs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731520" cy="73152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1031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2834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4747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revenue generated from delivery services.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413455" y="164592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3687775" y="1920240"/>
            <a:ext cx="731520" cy="73152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0655" y="21031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87775" y="2834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Delivery Rate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687775" y="34747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share of parcels successfully delivered out of all parcels handled.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186830" y="164592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461150" y="1920240"/>
            <a:ext cx="731520" cy="73152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4030" y="21031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61150" y="2834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 Rate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461150" y="34747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quality of the customer experience.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8960206" y="164592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9234526" y="1920240"/>
            <a:ext cx="731520" cy="73152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7406" y="21031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34526" y="2834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Rate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9234526" y="34747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proportion of customers who continue using Yalidine's services over time.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3355848" y="5029200"/>
            <a:ext cx="5486400" cy="1188720"/>
          </a:xfrm>
          <a:prstGeom prst="roundRect">
            <a:avLst>
              <a:gd name="adj" fmla="val 11538"/>
            </a:avLst>
          </a:prstGeom>
          <a:solidFill>
            <a:srgbClr val="2A3040"/>
          </a:solidFill>
          <a:ln w="12700">
            <a:solidFill>
              <a:srgbClr val="2A30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19"/>
          <p:cNvSpPr txBox="1"/>
          <p:nvPr/>
        </p:nvSpPr>
        <p:spPr>
          <a:xfrm>
            <a:off x="3355848" y="502920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254</Words>
  <Application>Microsoft Office PowerPoint</Application>
  <PresentationFormat>Widescreen</PresentationFormat>
  <Paragraphs>66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Yalidine Express - Business Analysis</dc:title>
  <dc:subject>PptxGenJS Presentation</dc:subject>
  <dc:creator>PptxGenJS</dc:creator>
  <cp:lastModifiedBy>Microsoft account</cp:lastModifiedBy>
  <cp:revision>6</cp:revision>
  <dcterms:created xsi:type="dcterms:W3CDTF">2026-09-28T08:56:28Z</dcterms:created>
  <dcterms:modified xsi:type="dcterms:W3CDTF">2026-10-03T08:25:57Z</dcterms:modified>
</cp:coreProperties>
</file>